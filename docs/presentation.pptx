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43465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Prototype ASSUMPTIONS: shock values, event weights and severity points are not real market predictions.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Motif A"/>
          <p:cNvSpPr/>
          <p:nvPr/>
        </p:nvSpPr>
        <p:spPr>
          <a:xfrm>
            <a:off x="6400800" y="640080"/>
            <a:ext cx="2560320" cy="256032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4" name="Motif B"/>
          <p:cNvSpPr/>
          <p:nvPr/>
        </p:nvSpPr>
        <p:spPr>
          <a:xfrm>
            <a:off x="7223760" y="2286000"/>
            <a:ext cx="1554480" cy="1554480"/>
          </a:xfrm>
          <a:prstGeom prst="ellipse">
            <a:avLst/>
          </a:prstGeom>
          <a:solidFill>
            <a:schemeClr val="accent2">
              <a:alpha val="40000"/>
            </a:scheme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09728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FinRisk AI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AI-Powered Financial Risk Intelligence &amp; Event-Driven Stress Testing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747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Hima Agarwal  ·  VIT Bhopal University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886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S&amp;P Global &amp; </a:t>
            </a:r>
            <a:r>
              <a:rPr lang="en-US" sz="1400" dirty="0" err="1">
                <a:solidFill>
                  <a:schemeClr val="accent5"/>
                </a:solidFill>
              </a:rPr>
              <a:t>Crisil</a:t>
            </a:r>
            <a:r>
              <a:rPr lang="en-US" sz="1400" dirty="0">
                <a:solidFill>
                  <a:schemeClr val="accent5"/>
                </a:solidFill>
              </a:rPr>
              <a:t> Hackathon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Problem &amp; Approach</a:t>
            </a:r>
            <a:endParaRPr lang="en-US" sz="3600" dirty="0"/>
          </a:p>
        </p:txBody>
      </p:sp>
      <p:sp>
        <p:nvSpPr>
          <p:cNvPr id="3" name="Card The problem"/>
          <p:cNvSpPr/>
          <p:nvPr/>
        </p:nvSpPr>
        <p:spPr>
          <a:xfrm>
            <a:off x="457200" y="109728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The problem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Risk teams drown in unstructured news but need structured signals and a fast answer: what happens to our portfolio?</a:t>
            </a:r>
            <a:endParaRPr lang="en-US" sz="1400" dirty="0"/>
          </a:p>
        </p:txBody>
      </p:sp>
      <p:sp>
        <p:nvSpPr>
          <p:cNvPr id="6" name="Card Our approach"/>
          <p:cNvSpPr/>
          <p:nvPr/>
        </p:nvSpPr>
        <p:spPr>
          <a:xfrm>
            <a:off x="3291840" y="109728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74720" y="1234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Our approach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691640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 rule-based NLP engine turns headlines into sentiment, event type and impact score. Impact above 7 triggers a stress test.</a:t>
            </a:r>
            <a:endParaRPr lang="en-US" sz="1400" dirty="0"/>
          </a:p>
        </p:txBody>
      </p:sp>
      <p:sp>
        <p:nvSpPr>
          <p:cNvPr id="9" name="Card Scope"/>
          <p:cNvSpPr/>
          <p:nvPr/>
        </p:nvSpPr>
        <p:spPr>
          <a:xfrm>
            <a:off x="6126480" y="109728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234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Scope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691640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Unified NLP Risk Engine plus Module B, event-driven portfolio stress testing, built end to end.</a:t>
            </a:r>
            <a:endParaRPr lang="en-US" sz="1400" dirty="0"/>
          </a:p>
        </p:txBody>
      </p:sp>
      <p:sp>
        <p:nvSpPr>
          <p:cNvPr id="12" name="Flow News text"/>
          <p:cNvSpPr/>
          <p:nvPr/>
        </p:nvSpPr>
        <p:spPr>
          <a:xfrm>
            <a:off x="457200" y="3520440"/>
            <a:ext cx="1463040" cy="731520"/>
          </a:xfrm>
          <a:prstGeom prst="chevron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5204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News text</a:t>
            </a:r>
            <a:endParaRPr lang="en-US" sz="1200" dirty="0"/>
          </a:p>
        </p:txBody>
      </p:sp>
      <p:sp>
        <p:nvSpPr>
          <p:cNvPr id="14" name="Flow NLP engine"/>
          <p:cNvSpPr/>
          <p:nvPr/>
        </p:nvSpPr>
        <p:spPr>
          <a:xfrm>
            <a:off x="1810512" y="3520440"/>
            <a:ext cx="1463040" cy="7315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084832" y="35204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NLP engine</a:t>
            </a:r>
            <a:endParaRPr lang="en-US" sz="1200" dirty="0"/>
          </a:p>
        </p:txBody>
      </p:sp>
      <p:sp>
        <p:nvSpPr>
          <p:cNvPr id="16" name="Flow Risk signal"/>
          <p:cNvSpPr/>
          <p:nvPr/>
        </p:nvSpPr>
        <p:spPr>
          <a:xfrm>
            <a:off x="3163824" y="3520440"/>
            <a:ext cx="1463040" cy="731520"/>
          </a:xfrm>
          <a:prstGeom prst="chevron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438144" y="35204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Risk signal</a:t>
            </a:r>
            <a:endParaRPr lang="en-US" sz="1200" dirty="0"/>
          </a:p>
        </p:txBody>
      </p:sp>
      <p:sp>
        <p:nvSpPr>
          <p:cNvPr id="18" name="Flow Impact &gt; 7?"/>
          <p:cNvSpPr/>
          <p:nvPr/>
        </p:nvSpPr>
        <p:spPr>
          <a:xfrm>
            <a:off x="4517136" y="3520440"/>
            <a:ext cx="1463040" cy="73152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91456" y="35204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Impact &gt; 7?</a:t>
            </a:r>
            <a:endParaRPr lang="en-US" sz="1200" dirty="0"/>
          </a:p>
        </p:txBody>
      </p:sp>
      <p:sp>
        <p:nvSpPr>
          <p:cNvPr id="20" name="Flow Stress test"/>
          <p:cNvSpPr/>
          <p:nvPr/>
        </p:nvSpPr>
        <p:spPr>
          <a:xfrm>
            <a:off x="5870448" y="3520440"/>
            <a:ext cx="1463040" cy="731520"/>
          </a:xfrm>
          <a:prstGeom prst="chevron">
            <a:avLst/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44768" y="35204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Stress test</a:t>
            </a:r>
            <a:endParaRPr lang="en-US" sz="1200" dirty="0"/>
          </a:p>
        </p:txBody>
      </p:sp>
      <p:sp>
        <p:nvSpPr>
          <p:cNvPr id="22" name="Flow Dashboard"/>
          <p:cNvSpPr/>
          <p:nvPr/>
        </p:nvSpPr>
        <p:spPr>
          <a:xfrm>
            <a:off x="7223760" y="3520440"/>
            <a:ext cx="1463040" cy="7315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0" y="35204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Dashboard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System Design</a:t>
            </a:r>
            <a:endParaRPr lang="en-US" sz="3600" dirty="0"/>
          </a:p>
        </p:txBody>
      </p:sp>
      <p:pic>
        <p:nvPicPr>
          <p:cNvPr id="3" name="Image 0" descr="FinRisk AI architecture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257" y="960120"/>
            <a:ext cx="7541485" cy="3794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Implementation Highlights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22860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Module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Tech choice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Ingestion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NewsAPI + CSV fallback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Demo never fails offline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Sentiment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VADER + finance lexicon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Plain VADER misses "downgrade", "default"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Event &amp; impact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Weighted keyword rules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Fully traceable, no black box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Stress test &amp; UI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Shock tables, Streamlit, Plotly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Event-specific and interactive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Formula card"/>
          <p:cNvSpPr/>
          <p:nvPr/>
        </p:nvSpPr>
        <p:spPr>
          <a:xfrm>
            <a:off x="457200" y="384048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/>
        </p:spPr>
      </p:sp>
      <p:sp>
        <p:nvSpPr>
          <p:cNvPr id="3" name="Text 2"/>
          <p:cNvSpPr txBox="1"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impact = 0.40 × event weight + 0.35 × sentiment extremity + 0.25 × keyword severity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Key Results</a:t>
            </a:r>
            <a:endParaRPr lang="en-US" sz="3600" dirty="0"/>
          </a:p>
        </p:txBody>
      </p:sp>
      <p:sp>
        <p:nvSpPr>
          <p:cNvPr id="3" name="Stat 20"/>
          <p:cNvSpPr/>
          <p:nvPr/>
        </p:nvSpPr>
        <p:spPr>
          <a:xfrm>
            <a:off x="457200" y="1097280"/>
            <a:ext cx="23774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headlines analyzed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346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703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triggered the stress test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868547"/>
              </p:ext>
            </p:extLst>
          </p:nvPr>
        </p:nvGraphicFramePr>
        <p:xfrm>
          <a:off x="4332849" y="1188720"/>
          <a:ext cx="4733778" cy="2928996"/>
        </p:xfrm>
        <a:graphic>
          <a:graphicData uri="http://schemas.openxmlformats.org/drawingml/2006/table">
            <a:tbl>
              <a:tblPr/>
              <a:tblGrid>
                <a:gridCol w="15132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9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5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57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69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Headline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Event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Impact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Change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9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Military conflict, crash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Geopolitical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9.3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-Rs 5,50,000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9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Sanctions, supply fears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Geopolitical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-Rs 5,50,000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9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Yes Bank downgrade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Fin. Performance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7.7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-Rs 5,30,000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9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Recession, GDP falls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Macroeconomic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7.6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-Rs 5,20,000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940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SEBI probe, Adani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Regulatory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7.3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-Rs 4,50,000</a:t>
                      </a:r>
                      <a:endParaRPr lang="en-US" sz="1400" dirty="0"/>
                    </a:p>
                  </a:txBody>
                  <a:tcPr marL="73152" marR="73152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91441" y="4403188"/>
            <a:ext cx="8595360" cy="51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3"/>
                </a:solidFill>
              </a:rPr>
              <a:t>Positive news (profit, launches) scored low and correctly did not trigger a stress test .20 headlines analyzed -&gt;5 stress tests triggered.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FF08399-AD8D-B3AD-2FBE-D2B5C6ADCA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75359"/>
            <a:ext cx="4269545" cy="32603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Domain Impact</a:t>
            </a:r>
            <a:endParaRPr lang="en-US" sz="3600" dirty="0"/>
          </a:p>
        </p:txBody>
      </p:sp>
      <p:sp>
        <p:nvSpPr>
          <p:cNvPr id="3" name="Card Structured signals"/>
          <p:cNvSpPr/>
          <p:nvPr/>
        </p:nvSpPr>
        <p:spPr>
          <a:xfrm>
            <a:off x="457200" y="1097280"/>
            <a:ext cx="39776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4" name="Badge 1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280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Structured signals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828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Turns unstructured text into machine-readable risk signals other systems can consume.</a:t>
            </a:r>
            <a:endParaRPr lang="en-US" sz="1400" dirty="0"/>
          </a:p>
        </p:txBody>
      </p:sp>
      <p:sp>
        <p:nvSpPr>
          <p:cNvPr id="8" name="Card Event to loss"/>
          <p:cNvSpPr/>
          <p:nvPr/>
        </p:nvSpPr>
        <p:spPr>
          <a:xfrm>
            <a:off x="4709160" y="1097280"/>
            <a:ext cx="39776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9" name="Badge 2"/>
          <p:cNvSpPr/>
          <p:nvPr/>
        </p:nvSpPr>
        <p:spPr>
          <a:xfrm>
            <a:off x="4892040" y="12801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532120" y="1280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Event to loss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532120" y="1828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Links an event to a portfolio-level loss figure for early warning and scenario talks.</a:t>
            </a:r>
            <a:endParaRPr lang="en-US" sz="1400" dirty="0"/>
          </a:p>
        </p:txBody>
      </p:sp>
      <p:sp>
        <p:nvSpPr>
          <p:cNvPr id="13" name="Card Explainable by design"/>
          <p:cNvSpPr/>
          <p:nvPr/>
        </p:nvSpPr>
        <p:spPr>
          <a:xfrm>
            <a:off x="457200" y="2834640"/>
            <a:ext cx="39776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14" name="Badge 3"/>
          <p:cNvSpPr/>
          <p:nvPr/>
        </p:nvSpPr>
        <p:spPr>
          <a:xfrm>
            <a:off x="640080" y="3017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Explainable by design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5661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Every score shows its components, which suits audit and model-risk review.</a:t>
            </a:r>
            <a:endParaRPr lang="en-US" sz="1400" dirty="0"/>
          </a:p>
        </p:txBody>
      </p:sp>
      <p:sp>
        <p:nvSpPr>
          <p:cNvPr id="18" name="Card Extensible"/>
          <p:cNvSpPr/>
          <p:nvPr/>
        </p:nvSpPr>
        <p:spPr>
          <a:xfrm>
            <a:off x="4709160" y="2834640"/>
            <a:ext cx="39776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19" name="Badge 4"/>
          <p:cNvSpPr/>
          <p:nvPr/>
        </p:nvSpPr>
        <p:spPr>
          <a:xfrm>
            <a:off x="4892040" y="3017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532120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Extensible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532120" y="35661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Ready for custom portfolios, live feeds and stronger models like FinBERT.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Limitations &amp; Next Steps</a:t>
            </a:r>
            <a:endParaRPr lang="en-US" sz="3600" dirty="0"/>
          </a:p>
        </p:txBody>
      </p:sp>
      <p:sp>
        <p:nvSpPr>
          <p:cNvPr id="3" name="Card Limitations"/>
          <p:cNvSpPr/>
          <p:nvPr/>
        </p:nvSpPr>
        <p:spPr>
          <a:xfrm>
            <a:off x="457200" y="1097280"/>
            <a:ext cx="397764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Limitations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3520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Rule-based NLP can miss sarcasm and negation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labelled-data validation, so no accuracy claim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Shock tables and weights are assumptions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 static synthetic portfolio</a:t>
            </a:r>
            <a:endParaRPr lang="en-US" sz="1400" dirty="0"/>
          </a:p>
        </p:txBody>
      </p:sp>
      <p:sp>
        <p:nvSpPr>
          <p:cNvPr id="6" name="Card Next steps"/>
          <p:cNvSpPr/>
          <p:nvPr/>
        </p:nvSpPr>
        <p:spPr>
          <a:xfrm>
            <a:off x="4709160" y="1097280"/>
            <a:ext cx="397764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937760" y="12344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Next steps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783080"/>
            <a:ext cx="3520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FinBERT or zero-shot classifier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Validate on a Kaggle financial-news dataset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Calibrate shocks with historical prices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Custom portfolios and the GDELT feed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Thank you  ·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inRisk">
  <a:themeElements>
    <a:clrScheme name="FinRisk">
      <a:dk1>
        <a:srgbClr val="1B2433"/>
      </a:dk1>
      <a:lt1>
        <a:srgbClr val="FFFFFF"/>
      </a:lt1>
      <a:dk2>
        <a:srgbClr val="0B2545"/>
      </a:dk2>
      <a:lt2>
        <a:srgbClr val="EEF2F7"/>
      </a:lt2>
      <a:accent1>
        <a:srgbClr val="E8A33D"/>
      </a:accent1>
      <a:accent2>
        <a:srgbClr val="C0392B"/>
      </a:accent2>
      <a:accent3>
        <a:srgbClr val="1F7A6D"/>
      </a:accent3>
      <a:accent4>
        <a:srgbClr val="5B6B82"/>
      </a:accent4>
      <a:accent5>
        <a:srgbClr val="8DA9C4"/>
      </a:accent5>
      <a:accent6>
        <a:srgbClr val="13315C"/>
      </a:accent6>
      <a:hlink>
        <a:srgbClr val="13315C"/>
      </a:hlink>
      <a:folHlink>
        <a:srgbClr val="5B6B82"/>
      </a:folHlink>
    </a:clrScheme>
    <a:fontScheme name="FinRis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403</Words>
  <Application>Microsoft Office PowerPoint</Application>
  <PresentationFormat>On-screen Show (16:9)</PresentationFormat>
  <Paragraphs>103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FinRisk</vt:lpstr>
      <vt:lpstr>PowerPoint Presentation</vt:lpstr>
      <vt:lpstr>Problem &amp; Approach</vt:lpstr>
      <vt:lpstr>System Design</vt:lpstr>
      <vt:lpstr>Implementation Highlights</vt:lpstr>
      <vt:lpstr>Key Results</vt:lpstr>
      <vt:lpstr>Domain Impact</vt:lpstr>
      <vt:lpstr>Limitations &amp; Next Steps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FinRisk AI</dc:title>
  <dc:subject>PptxGenJS Presentation</dc:subject>
  <dc:creator>Hima Agarwal</dc:creator>
  <cp:lastModifiedBy>HIMA AGARWAL</cp:lastModifiedBy>
  <cp:revision>2</cp:revision>
  <dcterms:created xsi:type="dcterms:W3CDTF">2026-10-09T17:28:30Z</dcterms:created>
  <dcterms:modified xsi:type="dcterms:W3CDTF">2026-10-09T17:50:40Z</dcterms:modified>
</cp:coreProperties>
</file>